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ppt/comments/comment6.xml" ContentType="application/vnd.openxmlformats-officedocument.presentationml.comments+xml"/>
  <Override PartName="/ppt/comments/comment7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sldIdLst>
    <p:sldId id="256" r:id="rId4"/>
    <p:sldId id="257" r:id="rId5"/>
    <p:sldId id="258" r:id="rId6"/>
    <p:sldId id="267" r:id="rId7"/>
    <p:sldId id="262" r:id="rId8"/>
    <p:sldId id="263" r:id="rId9"/>
    <p:sldId id="266" r:id="rId10"/>
    <p:sldId id="264" r:id="rId11"/>
    <p:sldId id="265" r:id="rId12"/>
    <p:sldId id="259" r:id="rId13"/>
    <p:sldId id="261" r:id="rId14"/>
  </p:sldIdLst>
  <p:sldSz cx="12192000" cy="6858000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ENATA" initials="R" lastIdx="1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commentAuthors" Target="commentAuthors.xml"/><Relationship Id="rId10" Type="http://schemas.openxmlformats.org/officeDocument/2006/relationships/slide" Target="slides/slide7.xml"/><Relationship Id="rId1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4:32.123" idx="4">
    <p:pos x="3004" y="382"/>
    <p:text>Problemática
Justificativa
Objetivo Geral
Objetivos Específicos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4:32.123" idx="10">
    <p:pos x="3004" y="382"/>
    <p:text>Problemática
Justificativa
Objetivo Geral
Objetivos Específicos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5:59.687" idx="5">
    <p:pos x="6774" y="708"/>
    <p:text>NÃO MUDAR ESSA FRASE: é uma abordagem qualitativa, de natureza teórica, sem procedimentos práticos e baseados em referenciais teóricos.</p:tex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9:15.731" idx="6">
    <p:pos x="2904" y="408"/>
    <p:text>considerar o principal pesquisador da temática e seus trabalhos científicos publicados. 
Considera-se também a importância do tema para a sociedade em geral. 
Espera-se ainda no desenvolvimento a apresentação de uma lacuna existente na atualidade pela ausência da aplicabilidade da temática pesquisada. 
tópicos do que será explicado (tema)</p:tex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9:15.731" idx="7">
    <p:pos x="2904" y="408"/>
    <p:text>considerar o principal pesquisador da temática e seus trabalhos científicos publicados. 
Considera-se também a importância do tema para a sociedade em geral. 
Espera-se ainda no desenvolvimento a apresentação de uma lacuna existente na atualidade pela ausência da aplicabilidade da temática pesquisada. 
tópicos do que será explicado (tema)</p:tex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4:01:17.556" idx="8">
    <p:pos x="4500" y="846"/>
    <p:text>Relevância da pesquisa
Proposição de outros estudos e dos estudos práticos (desenvolvimento do sistema)</p:text>
  </p:cm>
</p:cmLst>
</file>

<file path=ppt/comments/comment7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4:02:14.520" idx="9">
    <p:pos x="3404" y="394"/>
    <p:text>As utilizadas no resumo
somentes as citadas no resumo. No formato ABNT</p:tex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B54BF1D-9063-4BEE-8C72-9172F3A10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60633D-40BE-4823-9D70-E90BB7E20D1C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369E3E4-B284-4FE0-B385-0F8C00EF3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C5AF429-F4C5-4AE9-85EC-F9081058D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376E9B-F499-4203-B2B7-B90579D709D2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2083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809E057-8CC4-4B72-9DC1-A31421810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4E774B-487E-45DD-9EDF-6BED9A23258C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8A54BED-FCEE-4716-B9AD-92F175B41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460C75F-45BA-47EC-BF95-DB68E04D4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504699-A3AE-447D-826C-41FBB7146ADA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4076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0680335-1A72-4BAF-9C76-726DB6793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BE496CB-9C79-4F24-8900-BEAF2F43C272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94608FB-BD3D-43E9-987C-7A569FA60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1923D7B-8A56-4460-BE44-AECAC8F96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E72C3A-DFB6-4362-8AA1-77746B1B40DB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334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81376A55-6023-45D0-B48D-15049DA29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873C6A4-A5A0-4D45-846F-65CCFFEEC21A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4080E98E-C07A-4400-8991-186F4B90F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15AC8817-6596-40C4-A8E0-8FFAC94E2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7E2781E-1EB2-4E16-A791-F5211820C14C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1018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3">
            <a:extLst>
              <a:ext uri="{FF2B5EF4-FFF2-40B4-BE49-F238E27FC236}">
                <a16:creationId xmlns:a16="http://schemas.microsoft.com/office/drawing/2014/main" id="{2861D758-1FE0-4971-BE41-9F6028AAC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22D825-50E8-407D-964F-390DD4A6EBBE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8" name="Espaço Reservado para Rodapé 4">
            <a:extLst>
              <a:ext uri="{FF2B5EF4-FFF2-40B4-BE49-F238E27FC236}">
                <a16:creationId xmlns:a16="http://schemas.microsoft.com/office/drawing/2014/main" id="{DE358DC8-9B77-498D-8753-A078F1212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Espaço Reservado para Número de Slide 5">
            <a:extLst>
              <a:ext uri="{FF2B5EF4-FFF2-40B4-BE49-F238E27FC236}">
                <a16:creationId xmlns:a16="http://schemas.microsoft.com/office/drawing/2014/main" id="{2CE94B5D-1616-4C55-A89B-40ECCC078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2693F5-9C85-43CB-B7E0-FB01AAC861D4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0518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3">
            <a:extLst>
              <a:ext uri="{FF2B5EF4-FFF2-40B4-BE49-F238E27FC236}">
                <a16:creationId xmlns:a16="http://schemas.microsoft.com/office/drawing/2014/main" id="{BA2D40DB-7005-4836-B972-A18333792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DB099B0-8A28-4091-9FCE-463505D2C396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4" name="Espaço Reservado para Rodapé 4">
            <a:extLst>
              <a:ext uri="{FF2B5EF4-FFF2-40B4-BE49-F238E27FC236}">
                <a16:creationId xmlns:a16="http://schemas.microsoft.com/office/drawing/2014/main" id="{8A1047F2-59FB-44FD-BD83-11D13BCA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Espaço Reservado para Número de Slide 5">
            <a:extLst>
              <a:ext uri="{FF2B5EF4-FFF2-40B4-BE49-F238E27FC236}">
                <a16:creationId xmlns:a16="http://schemas.microsoft.com/office/drawing/2014/main" id="{AB6F6D58-2A68-431F-BD29-0AD166C30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D1B0F8-74DD-4CFD-9ECB-AEA8D334A809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574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3">
            <a:extLst>
              <a:ext uri="{FF2B5EF4-FFF2-40B4-BE49-F238E27FC236}">
                <a16:creationId xmlns:a16="http://schemas.microsoft.com/office/drawing/2014/main" id="{4DCEA456-5F93-42B8-90D3-B80767151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7A9671-140B-4CAD-94EE-9C8FE680A172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3" name="Espaço Reservado para Rodapé 4">
            <a:extLst>
              <a:ext uri="{FF2B5EF4-FFF2-40B4-BE49-F238E27FC236}">
                <a16:creationId xmlns:a16="http://schemas.microsoft.com/office/drawing/2014/main" id="{D4872FA2-4B83-4B64-8CCD-4099798E4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Espaço Reservado para Número de Slide 5">
            <a:extLst>
              <a:ext uri="{FF2B5EF4-FFF2-40B4-BE49-F238E27FC236}">
                <a16:creationId xmlns:a16="http://schemas.microsoft.com/office/drawing/2014/main" id="{2DF0C6A5-97D8-446D-8FB0-32AFAFF2C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673105E-A30B-4646-AAA3-D14AC42A7546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401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5C0CF51B-150F-4068-9B69-BE5A440BF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62EE6E-4B83-4D73-9FEE-DE8B52599F73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6E956705-34F3-4C04-8055-8FC6BB755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A4CA0301-8D71-4A14-AF5C-73E8B5D29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8B0A42F-E3C1-4FE4-BAB8-FE2E13519CFD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0993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C6A6CFAF-0039-4742-BF82-6A3297D59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D17BCC-C147-4A22-9D3F-1A183D22AB45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7001FB79-1E19-4F7F-AABA-F8DD36486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027E90B3-6B96-499F-B52E-480CED0BB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984595-D2D9-4499-BBBF-2895162EC21B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4383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8837088-123D-4E52-B5EE-F08245DEC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C92DF3-17FE-4197-A72D-5EC4B2ABA984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B51A36-6804-4661-B7CE-7F1051459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3EA23DC-5335-4790-8FE8-A9D877E7A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9F0D61-2AED-4ECA-9E41-BCE1FB0F7CE2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7967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5577FD3-66D5-44AA-9AEA-1638DCFEC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1FADCA3-6B48-42C4-B0DF-65A35F6686A5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20080C-E1B6-48A7-AAA3-3B83BC5E9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80622DC-C128-40FE-9C25-D2F199A09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6654256-EFD0-4C01-8578-2EF66A3C4349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957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ço Reservado para Título 1">
            <a:extLst>
              <a:ext uri="{FF2B5EF4-FFF2-40B4-BE49-F238E27FC236}">
                <a16:creationId xmlns:a16="http://schemas.microsoft.com/office/drawing/2014/main" id="{77D4EDEA-CACC-4B35-A5FD-343ED0E89A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título Mestre</a:t>
            </a:r>
          </a:p>
        </p:txBody>
      </p:sp>
      <p:sp>
        <p:nvSpPr>
          <p:cNvPr id="1027" name="Espaço Reservado para Texto 2">
            <a:extLst>
              <a:ext uri="{FF2B5EF4-FFF2-40B4-BE49-F238E27FC236}">
                <a16:creationId xmlns:a16="http://schemas.microsoft.com/office/drawing/2014/main" id="{3E47DE05-9267-49D0-929B-B874559012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de texto Mestres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9D47411-213C-4A24-A115-2F843872FE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10998AB7-6241-4527-818B-1F510D3FF9C9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2C4DAFF-9CD9-46A5-9816-EAB3A142CD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A60DC86-0528-45D8-A884-FD62E2029F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206AE7DB-D177-4AFD-9C5A-47E4B8C97508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fontAlgn="base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ítulo 1">
            <a:extLst>
              <a:ext uri="{FF2B5EF4-FFF2-40B4-BE49-F238E27FC236}">
                <a16:creationId xmlns:a16="http://schemas.microsoft.com/office/drawing/2014/main" id="{35EB6B86-5848-4EE5-B863-DD00F306704B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endParaRPr lang="pt-BR" altLang="pt-BR" dirty="0"/>
          </a:p>
        </p:txBody>
      </p:sp>
      <p:sp>
        <p:nvSpPr>
          <p:cNvPr id="2051" name="Subtítulo 2">
            <a:extLst>
              <a:ext uri="{FF2B5EF4-FFF2-40B4-BE49-F238E27FC236}">
                <a16:creationId xmlns:a16="http://schemas.microsoft.com/office/drawing/2014/main" id="{EFAE6E1B-4A73-4637-B080-37FEF0FFBAED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pt-BR" altLang="pt-BR" dirty="0"/>
          </a:p>
        </p:txBody>
      </p:sp>
      <p:pic>
        <p:nvPicPr>
          <p:cNvPr id="2052" name="Imagem 4" descr="Gráfico, Gráfico de funil&#10;&#10;Descrição gerada automaticamente">
            <a:extLst>
              <a:ext uri="{FF2B5EF4-FFF2-40B4-BE49-F238E27FC236}">
                <a16:creationId xmlns:a16="http://schemas.microsoft.com/office/drawing/2014/main" id="{876DEAEF-F5B3-4719-8ED0-6E0EC47C6A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3" name="Imagem 8" descr="Logotipo&#10;&#10;Descrição gerada automaticamente com confiança baixa">
            <a:extLst>
              <a:ext uri="{FF2B5EF4-FFF2-40B4-BE49-F238E27FC236}">
                <a16:creationId xmlns:a16="http://schemas.microsoft.com/office/drawing/2014/main" id="{AAD5FBF0-2170-4100-A44E-5DCD823B8C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1638" y="2763837"/>
            <a:ext cx="4433887" cy="1330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ítulo 1">
            <a:extLst>
              <a:ext uri="{FF2B5EF4-FFF2-40B4-BE49-F238E27FC236}">
                <a16:creationId xmlns:a16="http://schemas.microsoft.com/office/drawing/2014/main" id="{D21B3ED0-D5BF-48AB-93CA-9B9E222924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3075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F7102E8A-CB45-4A10-AB16-9CFF74D6505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307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377" y="2237462"/>
            <a:ext cx="4735902" cy="24006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Acessibilidade digital e o Acesso de Idosos a Serviços Públicos por Meio de Aplicativos Móveis</a:t>
            </a:r>
          </a:p>
        </p:txBody>
      </p:sp>
      <p:sp>
        <p:nvSpPr>
          <p:cNvPr id="8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7675" y="2237462"/>
            <a:ext cx="3234906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12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Profa. Isabella Luiza dos Santos Souza, </a:t>
            </a:r>
            <a:r>
              <a:rPr lang="pt-BR" altLang="pt-BR" sz="1200" b="1" dirty="0" err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Esp</a:t>
            </a:r>
            <a:endParaRPr lang="pt-BR" altLang="pt-BR" sz="1200" dirty="0">
              <a:solidFill>
                <a:srgbClr val="153553"/>
              </a:solidFill>
              <a:latin typeface="Verdana" panose="020B0604030504040204" pitchFamily="34" charset="0"/>
              <a:ea typeface="ＭＳ Ｐゴシック" panose="020B0600070205080204" pitchFamily="34" charset="-128"/>
            </a:endParaRPr>
          </a:p>
          <a:p>
            <a:pPr>
              <a:spcBef>
                <a:spcPct val="50000"/>
              </a:spcBef>
            </a:pPr>
            <a:r>
              <a:rPr lang="pt-BR" altLang="pt-BR" sz="1200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Bruno Gallego Costa</a:t>
            </a:r>
          </a:p>
          <a:p>
            <a:pPr>
              <a:spcBef>
                <a:spcPct val="50000"/>
              </a:spcBef>
            </a:pPr>
            <a:r>
              <a:rPr lang="pt-BR" altLang="pt-BR" sz="1200" dirty="0" err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Glebson</a:t>
            </a:r>
            <a:r>
              <a:rPr lang="pt-BR" altLang="pt-BR" sz="1200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 </a:t>
            </a:r>
            <a:r>
              <a:rPr lang="pt-BR" altLang="pt-BR" sz="1200" dirty="0" err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Delphino</a:t>
            </a:r>
            <a:r>
              <a:rPr lang="pt-BR" altLang="pt-BR" sz="1200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 </a:t>
            </a:r>
            <a:r>
              <a:rPr lang="pt-BR" altLang="pt-BR" sz="1200" dirty="0" err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Gregorio</a:t>
            </a:r>
            <a:r>
              <a:rPr lang="pt-BR" altLang="pt-BR" sz="1200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 do Nascimento Junior</a:t>
            </a:r>
          </a:p>
          <a:p>
            <a:pPr>
              <a:spcBef>
                <a:spcPct val="50000"/>
              </a:spcBef>
            </a:pPr>
            <a:r>
              <a:rPr lang="pt-BR" altLang="pt-BR" sz="1200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João Vitor Andrade Pereira</a:t>
            </a:r>
          </a:p>
        </p:txBody>
      </p:sp>
      <p:sp>
        <p:nvSpPr>
          <p:cNvPr id="9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734" y="6026521"/>
            <a:ext cx="30451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1400" b="1" dirty="0">
                <a:solidFill>
                  <a:schemeClr val="bg1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Ciência da Computação</a:t>
            </a:r>
          </a:p>
        </p:txBody>
      </p:sp>
      <p:sp>
        <p:nvSpPr>
          <p:cNvPr id="10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2305" y="5042088"/>
            <a:ext cx="4262438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r">
              <a:spcBef>
                <a:spcPct val="50000"/>
              </a:spcBef>
            </a:pPr>
            <a:r>
              <a:rPr lang="pt-BR" sz="1000" b="1" dirty="0">
                <a:solidFill>
                  <a:srgbClr val="FF0000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Acessibilidade digital. Serviços públicos. Terceira idade.</a:t>
            </a:r>
          </a:p>
        </p:txBody>
      </p:sp>
      <p:pic>
        <p:nvPicPr>
          <p:cNvPr id="15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8344" y="5931073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tângulo 1"/>
          <p:cNvSpPr/>
          <p:nvPr/>
        </p:nvSpPr>
        <p:spPr>
          <a:xfrm>
            <a:off x="10215847" y="5254109"/>
            <a:ext cx="1085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50000"/>
              </a:spcBef>
            </a:pPr>
            <a:r>
              <a:rPr lang="pt-BR" altLang="pt-BR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2026.2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D09F245C-E224-40FB-B22C-C18326684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285750" indent="-285750"/>
            <a:r>
              <a:rPr lang="pt-BR" sz="1400" dirty="0">
                <a:latin typeface="Verdana" pitchFamily="34" charset="0"/>
                <a:ea typeface="Verdana" pitchFamily="34" charset="0"/>
              </a:rPr>
              <a:t>PROBLEMÁTICA:</a:t>
            </a:r>
          </a:p>
          <a:p>
            <a:pPr marL="1028700" lvl="1"/>
            <a:r>
              <a:rPr lang="pt-BR" sz="1400" dirty="0">
                <a:latin typeface="Verdana" pitchFamily="34" charset="0"/>
                <a:ea typeface="Verdana" pitchFamily="34" charset="0"/>
              </a:rPr>
              <a:t>A dificuldade de idosos no uso de aplicativos móveis governamentais</a:t>
            </a:r>
          </a:p>
          <a:p>
            <a:pPr marL="1028700" lvl="1"/>
            <a:r>
              <a:rPr lang="pt-BR" sz="1400" dirty="0">
                <a:latin typeface="Verdana" pitchFamily="34" charset="0"/>
                <a:ea typeface="Verdana" pitchFamily="34" charset="0"/>
              </a:rPr>
              <a:t>Exclusão digital decorrente da extinção de canais físicos de atendimento</a:t>
            </a:r>
          </a:p>
          <a:p>
            <a:pPr marL="1028700" lvl="1"/>
            <a:r>
              <a:rPr lang="pt-BR" sz="1400" dirty="0">
                <a:latin typeface="Verdana" pitchFamily="34" charset="0"/>
                <a:ea typeface="Verdana" pitchFamily="34" charset="0"/>
              </a:rPr>
              <a:t>Perda de autonomia e dependência de terceiros</a:t>
            </a: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285750" indent="-285750"/>
            <a:r>
              <a:rPr lang="pt-BR" sz="1400" dirty="0">
                <a:latin typeface="Verdana" pitchFamily="34" charset="0"/>
                <a:ea typeface="Verdana" pitchFamily="34" charset="0"/>
              </a:rPr>
              <a:t>JUSTIFICATIVA:</a:t>
            </a:r>
          </a:p>
          <a:p>
            <a:pPr marL="1028700" lvl="1"/>
            <a:r>
              <a:rPr lang="pt-BR" sz="1400" dirty="0">
                <a:latin typeface="Verdana" pitchFamily="34" charset="0"/>
                <a:ea typeface="Verdana" pitchFamily="34" charset="0"/>
              </a:rPr>
              <a:t>Necessidade de preservar a autonomia e cidadania da terceira idade</a:t>
            </a:r>
          </a:p>
          <a:p>
            <a:pPr marL="1028700" lvl="1"/>
            <a:r>
              <a:rPr lang="pt-BR" sz="1400" dirty="0">
                <a:latin typeface="Verdana" pitchFamily="34" charset="0"/>
                <a:ea typeface="Verdana" pitchFamily="34" charset="0"/>
              </a:rPr>
              <a:t>Importância de garantir acesso igualitário aos serviços essenciais do Estado</a:t>
            </a:r>
          </a:p>
          <a:p>
            <a:pPr marL="1028700" lvl="1"/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028700" lvl="1"/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INTRODUÇÃO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C83F4-C754-5493-758B-064E4E9F6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EAACA6E4-00F2-A955-1957-4F467F6213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74C8AAD2-BFF4-21B8-4A87-79E7FD0BB2D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55F3FA2C-B60D-0465-6983-3F4AE419EB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285750" indent="-285750"/>
            <a:r>
              <a:rPr lang="pt-BR" sz="1400" dirty="0">
                <a:latin typeface="Verdana" panose="020B0604030504040204" pitchFamily="34" charset="0"/>
                <a:ea typeface="Verdana" panose="020B0604030504040204" pitchFamily="34" charset="0"/>
              </a:rPr>
              <a:t>OBJETIVO GERAL:</a:t>
            </a:r>
          </a:p>
          <a:p>
            <a:pPr marL="1028700" lvl="1"/>
            <a:r>
              <a:rPr lang="pt-BR" sz="1400" dirty="0">
                <a:latin typeface="Verdana" panose="020B0604030504040204" pitchFamily="34" charset="0"/>
                <a:ea typeface="Verdana" panose="020B0604030504040204" pitchFamily="34" charset="0"/>
              </a:rPr>
              <a:t>Identificar as principais barreiras de acessibilidade digital enfrentadas pelos idosos no uso de aplicativos móveis de serviços públicos, visando promover a inclusão digital e preservar sua autonomia.</a:t>
            </a:r>
          </a:p>
          <a:p>
            <a:pPr marL="1028700" lvl="1"/>
            <a:endParaRPr lang="pt-BR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/>
            <a:r>
              <a:rPr lang="pt-BR" sz="1400" dirty="0">
                <a:latin typeface="Verdana" panose="020B0604030504040204" pitchFamily="34" charset="0"/>
                <a:ea typeface="Verdana" panose="020B0604030504040204" pitchFamily="34" charset="0"/>
              </a:rPr>
              <a:t>OBJETIVOS ESPECÍFICOS:</a:t>
            </a:r>
          </a:p>
          <a:p>
            <a:pPr marL="1028700" lvl="1"/>
            <a:r>
              <a:rPr lang="pt-BR" sz="1400" dirty="0">
                <a:latin typeface="Verdana" panose="020B0604030504040204" pitchFamily="34" charset="0"/>
                <a:ea typeface="Verdana" panose="020B0604030504040204" pitchFamily="34" charset="0"/>
              </a:rPr>
              <a:t>Buscar soluções para a inclusão digital das pessoas de terceira idade.</a:t>
            </a:r>
          </a:p>
          <a:p>
            <a:pPr marL="1028700" lvl="1"/>
            <a:r>
              <a:rPr lang="pt-BR" sz="1400" dirty="0">
                <a:latin typeface="Verdana" panose="020B0604030504040204" pitchFamily="34" charset="0"/>
                <a:ea typeface="Verdana" panose="020B0604030504040204" pitchFamily="34" charset="0"/>
              </a:rPr>
              <a:t>Melhorar a usabilidade do sistema contribuindo com a inclusão.</a:t>
            </a:r>
          </a:p>
          <a:p>
            <a:pPr marL="1028700" lvl="1"/>
            <a:endParaRPr lang="pt-BR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/>
            <a:endParaRPr lang="pt-BR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buNone/>
            </a:pPr>
            <a:endParaRPr lang="pt-BR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buNone/>
            </a:pPr>
            <a:r>
              <a:rPr lang="pt-BR" sz="14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92303B23-9EE7-A945-ACCA-0ED7F7863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3199D05E-CDE1-B4DE-09A7-4775D5F5C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INTRODUÇÃO</a:t>
            </a:r>
          </a:p>
        </p:txBody>
      </p:sp>
    </p:spTree>
    <p:extLst>
      <p:ext uri="{BB962C8B-B14F-4D97-AF65-F5344CB8AC3E}">
        <p14:creationId xmlns:p14="http://schemas.microsoft.com/office/powerpoint/2010/main" val="2028430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2550" y="6030911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0067" y="777875"/>
            <a:ext cx="5661910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pt-BR"/>
            </a:defPPr>
            <a:lvl1pPr>
              <a:spcBef>
                <a:spcPct val="50000"/>
              </a:spcBef>
              <a:defRPr sz="3000" b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/>
            <a:lvl3pPr marL="1143000" indent="-228600"/>
            <a:lvl4pPr marL="1600200" indent="-228600"/>
            <a:lvl5pPr marL="2057400" indent="-228600"/>
            <a:lvl6pPr marL="2514600" indent="-228600" fontAlgn="base">
              <a:spcBef>
                <a:spcPct val="0"/>
              </a:spcBef>
              <a:spcAft>
                <a:spcPct val="0"/>
              </a:spcAft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</a:lvl9pPr>
          </a:lstStyle>
          <a:p>
            <a:r>
              <a:rPr lang="pt-BR" altLang="pt-BR" dirty="0"/>
              <a:t>METODOLOGIA/MÉTODO DA PESQUISA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C6B2C7A-E59D-5A67-500D-5262D5121C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0067" y="2719433"/>
            <a:ext cx="6130925" cy="7951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É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uma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abordagem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qualitativa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, de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natureza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teórica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sem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procedimentos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práticos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baseada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em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referenciais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teóricos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sobre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a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acessibilidade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de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idosos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em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aplicativos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governamentais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  <a:endParaRPr lang="pt-BR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270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FUNDAMENTAÇÃO TEÓRICA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01DEED65-4293-70B7-FE9D-9EBEBFE6AC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90722A3-FF13-C376-2C82-516B3410B117}"/>
              </a:ext>
            </a:extLst>
          </p:cNvPr>
          <p:cNvSpPr txBox="1"/>
          <p:nvPr/>
        </p:nvSpPr>
        <p:spPr>
          <a:xfrm>
            <a:off x="279173" y="2305614"/>
            <a:ext cx="6585397" cy="224676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latin typeface="Verdana" panose="020B0604030504040204" pitchFamily="34" charset="0"/>
                <a:ea typeface="Verdana" panose="020B0604030504040204" pitchFamily="34" charset="0"/>
              </a:rPr>
              <a:t>Os aplicativos precisam ser fáceis de usar, com letras maiores, botões visíveis e opções simples para facilitar o acesso dos idosos.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latin typeface="Verdana" panose="020B0604030504040204" pitchFamily="34" charset="0"/>
                <a:ea typeface="Verdana" panose="020B0604030504040204" pitchFamily="34" charset="0"/>
              </a:rPr>
              <a:t>Muitos idosos têm dificuldades para acompanhar as mudanças tecnológicas, principalmente quando os aplicativos são complicados ou não levam em conta suas necessidades.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latin typeface="Verdana" panose="020B0604030504040204" pitchFamily="34" charset="0"/>
                <a:ea typeface="Verdana" panose="020B0604030504040204" pitchFamily="34" charset="0"/>
              </a:rPr>
              <a:t>É importante ajudar os idosos a aprender a usar a tecnologia para que consigam acessar informações e serviços sem depender tanto de outras pessoas.</a:t>
            </a:r>
          </a:p>
        </p:txBody>
      </p:sp>
    </p:spTree>
    <p:extLst>
      <p:ext uri="{BB962C8B-B14F-4D97-AF65-F5344CB8AC3E}">
        <p14:creationId xmlns:p14="http://schemas.microsoft.com/office/powerpoint/2010/main" val="2149392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FUNDAMENTAÇÃO TEÓRICA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BF27EDCF-BF92-8A03-B585-1969DD1D71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285750" indent="-285750"/>
            <a:r>
              <a:rPr lang="pt-BR" sz="1400" dirty="0">
                <a:latin typeface="Verdana" panose="020B0604030504040204" pitchFamily="34" charset="0"/>
                <a:ea typeface="Verdana" panose="020B0604030504040204" pitchFamily="34" charset="0"/>
              </a:rPr>
              <a:t>Os aplicativos devem ter uma organização simples, com instruções claras e funções fáceis de encontrar, evitando que o usuário fique confuso durante o uso.</a:t>
            </a:r>
            <a:endParaRPr lang="pt-BR" sz="2000" dirty="0">
              <a:latin typeface="Verdana" pitchFamily="34" charset="0"/>
              <a:ea typeface="Verdana" pitchFamily="34" charset="0"/>
            </a:endParaRPr>
          </a:p>
          <a:p>
            <a:pPr>
              <a:buNone/>
            </a:pPr>
            <a:endParaRPr lang="pt-BR" sz="2000" dirty="0">
              <a:latin typeface="Verdana" pitchFamily="34" charset="0"/>
              <a:ea typeface="Verdana" pitchFamily="34" charset="0"/>
            </a:endParaRPr>
          </a:p>
          <a:p>
            <a:pPr marL="285750" indent="-285750"/>
            <a:r>
              <a:rPr lang="pt-BR" sz="1400" dirty="0">
                <a:latin typeface="Verdana" panose="020B0604030504040204" pitchFamily="34" charset="0"/>
                <a:ea typeface="Verdana" panose="020B0604030504040204" pitchFamily="34" charset="0"/>
              </a:rPr>
              <a:t>Cada vez mais serviços públicos estão disponíveis pela internet, mas nem todos os idosos conseguem utilizá-los com facilidade. É importante que esses serviços sejam acessíveis a todos.</a:t>
            </a:r>
            <a:endParaRPr lang="pt-BR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24189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8112" y="6154737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844550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CONSIDERAÇÕES FINAIS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BAA0655-280C-904A-F03E-0947DA8605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2208212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285750" indent="-285750"/>
            <a:r>
              <a:rPr lang="pt-BR" sz="1400" dirty="0">
                <a:latin typeface="Verdana" panose="020B0604030504040204" pitchFamily="34" charset="0"/>
                <a:ea typeface="Verdana" panose="020B0604030504040204" pitchFamily="34" charset="0"/>
              </a:rPr>
              <a:t>As dificuldades dos idosos vêm tanto de aplicativos mal adaptados quanto de órgãos públicos que não seguem as próprias regras de acessibilidade.</a:t>
            </a:r>
          </a:p>
          <a:p>
            <a:pPr marL="285750" indent="-285750"/>
            <a:endParaRPr lang="pt-BR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/>
            <a:r>
              <a:rPr lang="pt-BR" sz="1400" dirty="0">
                <a:latin typeface="Verdana" panose="020B0604030504040204" pitchFamily="34" charset="0"/>
                <a:ea typeface="Verdana" panose="020B0604030504040204" pitchFamily="34" charset="0"/>
              </a:rPr>
              <a:t>Sem acessibilidade, o idoso perde autonomia. Todos os artigos concordam que isso faz com que ele dependa de terceiros.</a:t>
            </a:r>
          </a:p>
          <a:p>
            <a:pPr marL="285750" indent="-285750"/>
            <a:endParaRPr lang="pt-BR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/>
            <a:r>
              <a:rPr lang="pt-BR" sz="1400" dirty="0">
                <a:latin typeface="Verdana" panose="020B0604030504040204" pitchFamily="34" charset="0"/>
                <a:ea typeface="Verdana" panose="020B0604030504040204" pitchFamily="34" charset="0"/>
              </a:rPr>
              <a:t>Limitação da pesquisa. O estudo foi apenas teórico, com 3 artigos. Futuros trabalhos devem fazer testes práticos com os idosos.</a:t>
            </a:r>
            <a:endParaRPr lang="pt-BR" sz="20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5197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D09F245C-E224-40FB-B22C-C18326684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2" y="2146301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>
              <a:buNone/>
            </a:pPr>
            <a:endParaRPr lang="pt-BR" altLang="pt-BR" sz="1400" dirty="0">
              <a:latin typeface="Verdana" pitchFamily="34" charset="0"/>
              <a:ea typeface="Verdana" pitchFamily="34" charset="0"/>
            </a:endParaRPr>
          </a:p>
          <a:p>
            <a:pPr>
              <a:buNone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MAIA, Ana Paula. Quando a tecnologia exclui: A acessibilidade digital da pessoa idosa. Portal Migalhas, 2026. (Artigo de debate jurídico-social sobre cidadania digital e portais públicos).</a:t>
            </a:r>
          </a:p>
          <a:p>
            <a:pPr>
              <a:buNone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DOMINGUES, Natasha Ramos Palma et al. Inclusão digital e participação social de idosos. Estudos Interdisciplinares sobre o Envelhecimento, Porto Alegre, v. 26, n. 1, 2021.</a:t>
            </a:r>
          </a:p>
          <a:p>
            <a:pPr>
              <a:buNone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MÓDOLO, Mariana da Silva; PIZETTA, Igor Henrique; DO CARMO, Lucas Poubel T.; GUIMARÃES, Rafael Silva. Design Inclusivo: Acessibilidade Digital para Idosos em Dispositivos Inteligentes. In: CONGRESSO LATINO-AMERICANO DE SOFTWARE LIVRE E TECNOLOGIAS ABERTAS (LATINOWARE), 21. , 2024, Foz do Iguaçu/PR. Anais [...]. Porto Alegre: Sociedade Brasileira de Computação, 2024 . p. 432-435.</a:t>
            </a: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0706" y="844549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REFERÊNCIA BIBLIOGRÁFICA</a:t>
            </a:r>
          </a:p>
        </p:txBody>
      </p:sp>
    </p:spTree>
    <p:extLst>
      <p:ext uri="{BB962C8B-B14F-4D97-AF65-F5344CB8AC3E}">
        <p14:creationId xmlns:p14="http://schemas.microsoft.com/office/powerpoint/2010/main" val="12839842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ítulo 1">
            <a:extLst>
              <a:ext uri="{FF2B5EF4-FFF2-40B4-BE49-F238E27FC236}">
                <a16:creationId xmlns:a16="http://schemas.microsoft.com/office/drawing/2014/main" id="{EEF05124-4115-43F9-BCFF-F980C8F42D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5123" name="Espaço Reservado para Conteúdo 4" descr="Uma imagem contendo Retângulo&#10;&#10;Descrição gerada automaticamente">
            <a:extLst>
              <a:ext uri="{FF2B5EF4-FFF2-40B4-BE49-F238E27FC236}">
                <a16:creationId xmlns:a16="http://schemas.microsoft.com/office/drawing/2014/main" id="{8E1F7DDD-FF2A-43EE-909F-663635D2B2C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5124" name="Text Box 6">
            <a:extLst>
              <a:ext uri="{FF2B5EF4-FFF2-40B4-BE49-F238E27FC236}">
                <a16:creationId xmlns:a16="http://schemas.microsoft.com/office/drawing/2014/main" id="{E223242B-36FC-4EDF-B7C1-F179D9876F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43200" y="1324425"/>
            <a:ext cx="6705600" cy="39703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pt-BR" sz="2800" i="1" dirty="0">
                <a:solidFill>
                  <a:schemeClr val="bg1"/>
                </a:solidFill>
                <a:latin typeface="Verdana" panose="020B0604030504040204" pitchFamily="34" charset="0"/>
              </a:rPr>
              <a:t>“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tecnologia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não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exclui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por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si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só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. Ela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executa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escolhas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previamente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feitas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. Quando o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serviço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essencial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passa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a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existir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apenas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em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formato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digital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sem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que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se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indague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quem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consegue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alcançá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-lo, a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exclusão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deixa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de ser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efeito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colateral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e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passa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a ser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decisão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de </a:t>
            </a:r>
            <a:r>
              <a:rPr lang="en-US" sz="2800" i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projeto</a:t>
            </a:r>
            <a:r>
              <a:rPr lang="en-US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."</a:t>
            </a:r>
            <a:r>
              <a:rPr lang="en-US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(MAIA, 2026).</a:t>
            </a:r>
            <a:r>
              <a:rPr lang="en-US" altLang="pt-BR" sz="2800" i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”</a:t>
            </a:r>
            <a:endParaRPr lang="pt-BR" altLang="pt-BR" sz="2800" dirty="0">
              <a:solidFill>
                <a:srgbClr val="002D55"/>
              </a:solidFill>
              <a:latin typeface="Verdana" panose="020B060403050404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ítulo 1">
            <a:extLst>
              <a:ext uri="{FF2B5EF4-FFF2-40B4-BE49-F238E27FC236}">
                <a16:creationId xmlns:a16="http://schemas.microsoft.com/office/drawing/2014/main" id="{EC112F46-5108-40C3-808D-99567C1815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7171" name="Espaço Reservado para Conteúdo 4" descr="Uma imagem contendo Forma&#10;&#10;Descrição gerada automaticamente">
            <a:extLst>
              <a:ext uri="{FF2B5EF4-FFF2-40B4-BE49-F238E27FC236}">
                <a16:creationId xmlns:a16="http://schemas.microsoft.com/office/drawing/2014/main" id="{3179E142-1D8E-4F12-A1B5-DEAE3BD929C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pic>
        <p:nvPicPr>
          <p:cNvPr id="7172" name="Imagem 6" descr="Logotipo&#10;&#10;Descrição gerada automaticamente com confiança baixa">
            <a:extLst>
              <a:ext uri="{FF2B5EF4-FFF2-40B4-BE49-F238E27FC236}">
                <a16:creationId xmlns:a16="http://schemas.microsoft.com/office/drawing/2014/main" id="{1FB7FF44-5FE7-4823-AD16-37782FFAD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6663" y="2763838"/>
            <a:ext cx="4433887" cy="1330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1DAED1B117F6894D909B25A69A4597D2" ma:contentTypeVersion="11" ma:contentTypeDescription="Crie um novo documento." ma:contentTypeScope="" ma:versionID="fc0e1081098a96f1fc26b259e7bbb1c8">
  <xsd:schema xmlns:xsd="http://www.w3.org/2001/XMLSchema" xmlns:xs="http://www.w3.org/2001/XMLSchema" xmlns:p="http://schemas.microsoft.com/office/2006/metadata/properties" xmlns:ns2="0cd93fe2-0880-41f5-aab4-f958682b72cb" xmlns:ns3="18000554-2c77-4cf4-9366-a485aa9d7e35" targetNamespace="http://schemas.microsoft.com/office/2006/metadata/properties" ma:root="true" ma:fieldsID="f39cd65ee00b5e4c5dd2756fb7575f2f" ns2:_="" ns3:_="">
    <xsd:import namespace="0cd93fe2-0880-41f5-aab4-f958682b72cb"/>
    <xsd:import namespace="18000554-2c77-4cf4-9366-a485aa9d7e3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d93fe2-0880-41f5-aab4-f958682b72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000554-2c77-4cf4-9366-a485aa9d7e35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EB3752F-42B6-452F-9AAE-531B3222458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cd93fe2-0880-41f5-aab4-f958682b72cb"/>
    <ds:schemaRef ds:uri="18000554-2c77-4cf4-9366-a485aa9d7e3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4661556-5590-415F-9315-F9BACBDA7B8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1153</TotalTime>
  <Words>596</Words>
  <Application>Microsoft Office PowerPoint</Application>
  <PresentationFormat>Widescreen</PresentationFormat>
  <Paragraphs>56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Verdana</vt:lpstr>
      <vt:lpstr>Wingdings</vt:lpstr>
      <vt:lpstr>Tema do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Criação 04</dc:creator>
  <cp:lastModifiedBy>BRUNO GALLEGO COSTA</cp:lastModifiedBy>
  <cp:revision>25</cp:revision>
  <dcterms:created xsi:type="dcterms:W3CDTF">2021-05-14T17:32:15Z</dcterms:created>
  <dcterms:modified xsi:type="dcterms:W3CDTF">2026-10-14T00:05:27Z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2026-10-13T19:24:28Z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38ae2f02-5710-4e12-80bb-83600c3fdf1e</vt:lpwstr>
  </property>
  <property fmtid="{D5CDD505-2E9C-101B-9397-08002B2CF9AE}" pid="7" name="MSIP_Label_defa4170-0d19-0005-0004-bc88714345d2_ActionId">
    <vt:lpwstr>8f2f6c25-6dd4-4021-94d6-93a0599c6320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